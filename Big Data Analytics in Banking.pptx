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875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460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725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992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649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867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684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953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67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50201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77743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4269501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35841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72344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30146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4850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797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5518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gital financial graph">
            <a:extLst>
              <a:ext uri="{FF2B5EF4-FFF2-40B4-BE49-F238E27FC236}">
                <a16:creationId xmlns:a16="http://schemas.microsoft.com/office/drawing/2014/main" id="{D4BA5025-DA2B-09A9-8B2F-F57F9779FE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A87281-978E-45A8-B06E-73F2C51270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786" y="908651"/>
            <a:ext cx="5230366" cy="4005454"/>
          </a:xfrm>
        </p:spPr>
        <p:txBody>
          <a:bodyPr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3700"/>
              <a:t>Big Data Analytics in Banking: Decoding Customer Perceptions of Digital Banking in India through Social Media Insights</a:t>
            </a:r>
            <a:endParaRPr lang="en-IN" sz="37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A65740-60A0-4C28-8685-0A8A0BB72D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3787" y="5050632"/>
            <a:ext cx="3793200" cy="1129888"/>
          </a:xfrm>
        </p:spPr>
        <p:txBody>
          <a:bodyPr anchor="b">
            <a:normAutofit fontScale="55000" lnSpcReduction="20000"/>
          </a:bodyPr>
          <a:lstStyle/>
          <a:p>
            <a:r>
              <a:rPr lang="en-US" sz="2400"/>
              <a:t>Capstone Project</a:t>
            </a:r>
            <a:br>
              <a:rPr lang="en-US" sz="2400"/>
            </a:br>
            <a:r>
              <a:rPr lang="en-US" sz="2400"/>
              <a:t>MBA in Business Analytics </a:t>
            </a:r>
            <a:br>
              <a:rPr lang="en-US" sz="2400"/>
            </a:br>
            <a:r>
              <a:rPr lang="en-US" sz="2400"/>
              <a:t>University of Hyderabad</a:t>
            </a:r>
            <a:br>
              <a:rPr lang="en-US" sz="2400"/>
            </a:br>
            <a:r>
              <a:rPr lang="en-US" sz="2400" b="1"/>
              <a:t>Presented by:</a:t>
            </a:r>
            <a:r>
              <a:rPr lang="en-US" sz="2400"/>
              <a:t> Gajam Shyam Sunder</a:t>
            </a:r>
            <a:br>
              <a:rPr lang="en-US" sz="2400"/>
            </a:br>
            <a:r>
              <a:rPr lang="en-US" sz="2400"/>
              <a:t>Roll No : 24MBMB32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8723985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7CFDD-CB7B-49B0-9344-31491A8C7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45DCA34-49E1-45A7-8312-B4AF23FFAA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0635" y="2937778"/>
            <a:ext cx="1118656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banking industry in India is rapidly adopting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digital platforms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such as UPI, internet banking, and mobile banking apps.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 digital adoption grows, so does the importance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analyzing massive volumes of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generated by customers.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demonstrates how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Big Data Analytics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improve decision-making in five key areas of banking operations.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work was implemented entirely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Apache Spark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PySpark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MLlib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Databricks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leveraging its scalability for handling large datasets.</a:t>
            </a:r>
          </a:p>
        </p:txBody>
      </p:sp>
    </p:spTree>
    <p:extLst>
      <p:ext uri="{BB962C8B-B14F-4D97-AF65-F5344CB8AC3E}">
        <p14:creationId xmlns:p14="http://schemas.microsoft.com/office/powerpoint/2010/main" val="3697973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C6630-32C4-4248-BE18-24DB781FD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 and Tools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4CE53-A6E5-41D8-BB35-E11BA671B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Project Objectives</a:t>
            </a:r>
          </a:p>
          <a:p>
            <a:r>
              <a:rPr lang="en-US" dirty="0"/>
              <a:t>To explore how Big Data can transform banking operations and customer management.</a:t>
            </a:r>
          </a:p>
          <a:p>
            <a:r>
              <a:rPr lang="en-US" dirty="0"/>
              <a:t>To apply advanced analytical techniques to solve real banking problems.</a:t>
            </a:r>
          </a:p>
          <a:p>
            <a:r>
              <a:rPr lang="en-US" dirty="0"/>
              <a:t>To develop predictive and segmentation models that enhance customer experience and operational efficiency.</a:t>
            </a:r>
          </a:p>
          <a:p>
            <a:r>
              <a:rPr lang="en-US" dirty="0"/>
              <a:t>To understand customer perceptions through sentiment analysis on social media data.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4342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B5E13D0F-3A3F-4303-81FD-1905495E18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448035"/>
              </p:ext>
            </p:extLst>
          </p:nvPr>
        </p:nvGraphicFramePr>
        <p:xfrm>
          <a:off x="923926" y="1497330"/>
          <a:ext cx="10353674" cy="2834640"/>
        </p:xfrm>
        <a:graphic>
          <a:graphicData uri="http://schemas.openxmlformats.org/drawingml/2006/table">
            <a:tbl>
              <a:tblPr/>
              <a:tblGrid>
                <a:gridCol w="5176837">
                  <a:extLst>
                    <a:ext uri="{9D8B030D-6E8A-4147-A177-3AD203B41FA5}">
                      <a16:colId xmlns:a16="http://schemas.microsoft.com/office/drawing/2014/main" val="1629214518"/>
                    </a:ext>
                  </a:extLst>
                </a:gridCol>
                <a:gridCol w="5176837">
                  <a:extLst>
                    <a:ext uri="{9D8B030D-6E8A-4147-A177-3AD203B41FA5}">
                      <a16:colId xmlns:a16="http://schemas.microsoft.com/office/drawing/2014/main" val="84140029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IN" sz="1800" dirty="0"/>
                        <a:t>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371256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IN" sz="1800" b="1"/>
                        <a:t>Apache Spark (PySpark)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/>
                        <a:t>Distributed data processing &amp; ML pipeline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780533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IN" sz="1800" b="1"/>
                        <a:t>Databricks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Unified analytics and visualization environment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552808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IN" sz="1800" b="1"/>
                        <a:t>Python (pandas, matplotlib, seaborn)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/>
                        <a:t>Data cleaning &amp; EDA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857924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lang="en-IN" sz="1800" b="1"/>
                        <a:t>MLlib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Machine Learning models like Logistic Regression, Random Forest, K-Means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362973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IN" sz="1800" b="1"/>
                        <a:t>GitHub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Version control and project sharing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029832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IN" sz="1800" b="1"/>
                        <a:t>Microsoft PowerPoint &amp; Word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/>
                        <a:t>Project documentation and presentation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6498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3814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3F736-ACAD-4FB4-A7A5-B5D934565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Five Use Cases</a:t>
            </a:r>
            <a:endParaRPr lang="en-IN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1580A5C7-3E4F-480D-9AF3-084F7DEFEB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2212500"/>
              </p:ext>
            </p:extLst>
          </p:nvPr>
        </p:nvGraphicFramePr>
        <p:xfrm>
          <a:off x="700635" y="2179499"/>
          <a:ext cx="10551606" cy="4100472"/>
        </p:xfrm>
        <a:graphic>
          <a:graphicData uri="http://schemas.openxmlformats.org/drawingml/2006/table">
            <a:tbl>
              <a:tblPr/>
              <a:tblGrid>
                <a:gridCol w="3517202">
                  <a:extLst>
                    <a:ext uri="{9D8B030D-6E8A-4147-A177-3AD203B41FA5}">
                      <a16:colId xmlns:a16="http://schemas.microsoft.com/office/drawing/2014/main" val="1678969817"/>
                    </a:ext>
                  </a:extLst>
                </a:gridCol>
                <a:gridCol w="3517202">
                  <a:extLst>
                    <a:ext uri="{9D8B030D-6E8A-4147-A177-3AD203B41FA5}">
                      <a16:colId xmlns:a16="http://schemas.microsoft.com/office/drawing/2014/main" val="2418347543"/>
                    </a:ext>
                  </a:extLst>
                </a:gridCol>
                <a:gridCol w="3517202">
                  <a:extLst>
                    <a:ext uri="{9D8B030D-6E8A-4147-A177-3AD203B41FA5}">
                      <a16:colId xmlns:a16="http://schemas.microsoft.com/office/drawing/2014/main" val="4116740729"/>
                    </a:ext>
                  </a:extLst>
                </a:gridCol>
              </a:tblGrid>
              <a:tr h="356205">
                <a:tc>
                  <a:txBody>
                    <a:bodyPr/>
                    <a:lstStyle/>
                    <a:p>
                      <a:r>
                        <a:rPr lang="en-IN" sz="1800" b="1"/>
                        <a:t>Use Case</a:t>
                      </a:r>
                      <a:endParaRPr lang="en-IN" sz="1800"/>
                    </a:p>
                  </a:txBody>
                  <a:tcPr marL="89051" marR="89051" marT="44526" marB="44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/>
                        <a:t>Objective</a:t>
                      </a:r>
                      <a:endParaRPr lang="en-IN" sz="1800"/>
                    </a:p>
                  </a:txBody>
                  <a:tcPr marL="89051" marR="89051" marT="44526" marB="44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/>
                        <a:t>Model Used</a:t>
                      </a:r>
                      <a:endParaRPr lang="en-IN" sz="1800"/>
                    </a:p>
                  </a:txBody>
                  <a:tcPr marL="89051" marR="89051" marT="44526" marB="44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4272424"/>
                  </a:ext>
                </a:extLst>
              </a:tr>
              <a:tr h="890512">
                <a:tc>
                  <a:txBody>
                    <a:bodyPr/>
                    <a:lstStyle/>
                    <a:p>
                      <a:r>
                        <a:rPr lang="en-IN" sz="1800" dirty="0"/>
                        <a:t>1️⃣   Customer Sentiment Analysis</a:t>
                      </a:r>
                    </a:p>
                  </a:txBody>
                  <a:tcPr marL="89051" marR="89051" marT="44526" marB="44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Understand customer opinions on digital banking through social media posts</a:t>
                      </a:r>
                    </a:p>
                  </a:txBody>
                  <a:tcPr marL="89051" marR="89051" marT="44526" marB="44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Logistic Regression</a:t>
                      </a:r>
                    </a:p>
                  </a:txBody>
                  <a:tcPr marL="89051" marR="89051" marT="44526" marB="44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6439680"/>
                  </a:ext>
                </a:extLst>
              </a:tr>
              <a:tr h="623358">
                <a:tc>
                  <a:txBody>
                    <a:bodyPr/>
                    <a:lstStyle/>
                    <a:p>
                      <a:r>
                        <a:rPr lang="en-IN" sz="1800" dirty="0"/>
                        <a:t>2️⃣   Fraud Detection</a:t>
                      </a:r>
                    </a:p>
                  </a:txBody>
                  <a:tcPr marL="89051" marR="89051" marT="44526" marB="44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Identify fraudulent transactions from transaction history</a:t>
                      </a:r>
                    </a:p>
                  </a:txBody>
                  <a:tcPr marL="89051" marR="89051" marT="44526" marB="44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Logistic Regression &amp; Random Forest</a:t>
                      </a:r>
                    </a:p>
                  </a:txBody>
                  <a:tcPr marL="89051" marR="89051" marT="44526" marB="44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3800889"/>
                  </a:ext>
                </a:extLst>
              </a:tr>
              <a:tr h="623358">
                <a:tc>
                  <a:txBody>
                    <a:bodyPr/>
                    <a:lstStyle/>
                    <a:p>
                      <a:r>
                        <a:rPr lang="en-IN" sz="1800" dirty="0"/>
                        <a:t>3️⃣   Loan Default Prediction</a:t>
                      </a:r>
                    </a:p>
                  </a:txBody>
                  <a:tcPr marL="89051" marR="89051" marT="44526" marB="44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Predict borrowers likely to default on loans</a:t>
                      </a:r>
                    </a:p>
                  </a:txBody>
                  <a:tcPr marL="89051" marR="89051" marT="44526" marB="44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Logistic Regression &amp; GBT</a:t>
                      </a:r>
                    </a:p>
                  </a:txBody>
                  <a:tcPr marL="89051" marR="89051" marT="44526" marB="44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8243052"/>
                  </a:ext>
                </a:extLst>
              </a:tr>
              <a:tr h="623358">
                <a:tc>
                  <a:txBody>
                    <a:bodyPr/>
                    <a:lstStyle/>
                    <a:p>
                      <a:r>
                        <a:rPr lang="en-IN" sz="1800" dirty="0"/>
                        <a:t>4️⃣   Customer Segmentation</a:t>
                      </a:r>
                    </a:p>
                  </a:txBody>
                  <a:tcPr marL="89051" marR="89051" marT="44526" marB="44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Cluster customers for targeted offers</a:t>
                      </a:r>
                    </a:p>
                  </a:txBody>
                  <a:tcPr marL="89051" marR="89051" marT="44526" marB="44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K-Means Clustering</a:t>
                      </a:r>
                    </a:p>
                  </a:txBody>
                  <a:tcPr marL="89051" marR="89051" marT="44526" marB="44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1376475"/>
                  </a:ext>
                </a:extLst>
              </a:tr>
              <a:tr h="623358">
                <a:tc>
                  <a:txBody>
                    <a:bodyPr/>
                    <a:lstStyle/>
                    <a:p>
                      <a:r>
                        <a:rPr lang="en-US" sz="1800" dirty="0"/>
                        <a:t>5️⃣   Real-Time Credit Risk Monitoring</a:t>
                      </a:r>
                    </a:p>
                  </a:txBody>
                  <a:tcPr marL="89051" marR="89051" marT="44526" marB="44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Detect risky customers in real-time using streaming-like scoring</a:t>
                      </a:r>
                    </a:p>
                  </a:txBody>
                  <a:tcPr marL="89051" marR="89051" marT="44526" marB="44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GBT Classifier</a:t>
                      </a:r>
                    </a:p>
                  </a:txBody>
                  <a:tcPr marL="89051" marR="89051" marT="44526" marB="44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3195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7596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AA776-0765-43C4-BE2C-13B1DB8F6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 Overview and Outputs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A9116-2AC4-46D4-B737-220216135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Implementation Approach</a:t>
            </a:r>
          </a:p>
          <a:p>
            <a:r>
              <a:rPr lang="en-IN" b="1" dirty="0"/>
              <a:t>Data Collection:</a:t>
            </a:r>
            <a:br>
              <a:rPr lang="en-IN" dirty="0"/>
            </a:br>
            <a:r>
              <a:rPr lang="en-IN" dirty="0"/>
              <a:t>Synthetic datasets were generated to simulate real-world banking scenarios.</a:t>
            </a:r>
            <a:br>
              <a:rPr lang="en-IN" dirty="0"/>
            </a:br>
            <a:r>
              <a:rPr lang="en-IN" dirty="0"/>
              <a:t>Data types included text data (tweets), transaction data, and customer demographics.</a:t>
            </a:r>
          </a:p>
          <a:p>
            <a:r>
              <a:rPr lang="en-IN" b="1" dirty="0"/>
              <a:t>Data Processing:</a:t>
            </a:r>
            <a:br>
              <a:rPr lang="en-IN" dirty="0"/>
            </a:br>
            <a:r>
              <a:rPr lang="en-IN" dirty="0"/>
              <a:t>Data cleaning, transformation, feature engineering, and scaling were done using </a:t>
            </a:r>
            <a:r>
              <a:rPr lang="en-IN" dirty="0" err="1"/>
              <a:t>PySpark</a:t>
            </a:r>
            <a:r>
              <a:rPr lang="en-IN" dirty="0"/>
              <a:t>.</a:t>
            </a:r>
          </a:p>
          <a:p>
            <a:r>
              <a:rPr lang="en-IN" b="1" dirty="0"/>
              <a:t>Model Building:</a:t>
            </a:r>
            <a:br>
              <a:rPr lang="en-IN" dirty="0"/>
            </a:br>
            <a:r>
              <a:rPr lang="en-IN" dirty="0"/>
              <a:t>Supervised (Logistic Regression, Random Forest, GBT) and unsupervised (K-Means) models were applied.</a:t>
            </a:r>
          </a:p>
          <a:p>
            <a:r>
              <a:rPr lang="en-IN" b="1" dirty="0"/>
              <a:t>Model Evaluation:</a:t>
            </a:r>
            <a:br>
              <a:rPr lang="en-IN" dirty="0"/>
            </a:br>
            <a:r>
              <a:rPr lang="en-IN" dirty="0"/>
              <a:t>Accuracy, F1-Score, AUC, and Silhouette Score were used to measure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2511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7FF16DD-007A-4056-9D4F-EC40384588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164797"/>
              </p:ext>
            </p:extLst>
          </p:nvPr>
        </p:nvGraphicFramePr>
        <p:xfrm>
          <a:off x="919162" y="1939621"/>
          <a:ext cx="10353675" cy="2194560"/>
        </p:xfrm>
        <a:graphic>
          <a:graphicData uri="http://schemas.openxmlformats.org/drawingml/2006/table">
            <a:tbl>
              <a:tblPr/>
              <a:tblGrid>
                <a:gridCol w="3451225">
                  <a:extLst>
                    <a:ext uri="{9D8B030D-6E8A-4147-A177-3AD203B41FA5}">
                      <a16:colId xmlns:a16="http://schemas.microsoft.com/office/drawing/2014/main" val="365071212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1204939861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28877581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Use Case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Metric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Result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5368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Sentiment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0.80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6302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Fraud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0.90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74285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Loan Default Prediction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AUC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0.94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9108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Customer Segmentation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Silhouette 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0.78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5044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Credit Risk Monitoring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AUC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7895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0769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5F145-DA5B-4F9C-B756-79DF8A100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and Insights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D72D907-805A-4D60-9B72-09A2952554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4496833"/>
              </p:ext>
            </p:extLst>
          </p:nvPr>
        </p:nvGraphicFramePr>
        <p:xfrm>
          <a:off x="1558455" y="2095500"/>
          <a:ext cx="8825946" cy="3229100"/>
        </p:xfrm>
        <a:graphic>
          <a:graphicData uri="http://schemas.openxmlformats.org/drawingml/2006/table">
            <a:tbl>
              <a:tblPr/>
              <a:tblGrid>
                <a:gridCol w="2941982">
                  <a:extLst>
                    <a:ext uri="{9D8B030D-6E8A-4147-A177-3AD203B41FA5}">
                      <a16:colId xmlns:a16="http://schemas.microsoft.com/office/drawing/2014/main" val="2088576485"/>
                    </a:ext>
                  </a:extLst>
                </a:gridCol>
                <a:gridCol w="2941982">
                  <a:extLst>
                    <a:ext uri="{9D8B030D-6E8A-4147-A177-3AD203B41FA5}">
                      <a16:colId xmlns:a16="http://schemas.microsoft.com/office/drawing/2014/main" val="3884319480"/>
                    </a:ext>
                  </a:extLst>
                </a:gridCol>
                <a:gridCol w="2941982">
                  <a:extLst>
                    <a:ext uri="{9D8B030D-6E8A-4147-A177-3AD203B41FA5}">
                      <a16:colId xmlns:a16="http://schemas.microsoft.com/office/drawing/2014/main" val="3074913067"/>
                    </a:ext>
                  </a:extLst>
                </a:gridCol>
              </a:tblGrid>
              <a:tr h="229975">
                <a:tc>
                  <a:txBody>
                    <a:bodyPr/>
                    <a:lstStyle/>
                    <a:p>
                      <a:r>
                        <a:rPr lang="en-IN" sz="1300" b="1"/>
                        <a:t>Use Case</a:t>
                      </a:r>
                      <a:endParaRPr lang="en-IN" sz="1300"/>
                    </a:p>
                  </a:txBody>
                  <a:tcPr marL="68439" marR="68439" marT="34219" marB="342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1"/>
                        <a:t>Model Used</a:t>
                      </a:r>
                      <a:endParaRPr lang="en-IN" sz="1300"/>
                    </a:p>
                  </a:txBody>
                  <a:tcPr marL="68439" marR="68439" marT="34219" marB="342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1"/>
                        <a:t>Key Outcome / Insight</a:t>
                      </a:r>
                      <a:endParaRPr lang="en-IN" sz="1300"/>
                    </a:p>
                  </a:txBody>
                  <a:tcPr marL="68439" marR="68439" marT="34219" marB="342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438203"/>
                  </a:ext>
                </a:extLst>
              </a:tr>
              <a:tr h="574936">
                <a:tc>
                  <a:txBody>
                    <a:bodyPr/>
                    <a:lstStyle/>
                    <a:p>
                      <a:r>
                        <a:rPr lang="en-IN" sz="1300"/>
                        <a:t>Sentiment Analysis</a:t>
                      </a:r>
                    </a:p>
                  </a:txBody>
                  <a:tcPr marL="68439" marR="68439" marT="34219" marB="342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Logistic Regression</a:t>
                      </a:r>
                    </a:p>
                  </a:txBody>
                  <a:tcPr marL="68439" marR="68439" marT="34219" marB="342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Identified positive, negative, and neutral opinions from social media.</a:t>
                      </a:r>
                    </a:p>
                  </a:txBody>
                  <a:tcPr marL="68439" marR="68439" marT="34219" marB="342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3750263"/>
                  </a:ext>
                </a:extLst>
              </a:tr>
              <a:tr h="574936">
                <a:tc>
                  <a:txBody>
                    <a:bodyPr/>
                    <a:lstStyle/>
                    <a:p>
                      <a:r>
                        <a:rPr lang="en-IN" sz="1300"/>
                        <a:t>Fraud Detection</a:t>
                      </a:r>
                    </a:p>
                  </a:txBody>
                  <a:tcPr marL="68439" marR="68439" marT="34219" marB="342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Logistic Regression</a:t>
                      </a:r>
                    </a:p>
                  </a:txBody>
                  <a:tcPr marL="68439" marR="68439" marT="34219" marB="342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Detected suspicious transactions with 90% accuracy.</a:t>
                      </a:r>
                    </a:p>
                  </a:txBody>
                  <a:tcPr marL="68439" marR="68439" marT="34219" marB="342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5133221"/>
                  </a:ext>
                </a:extLst>
              </a:tr>
              <a:tr h="574936">
                <a:tc>
                  <a:txBody>
                    <a:bodyPr/>
                    <a:lstStyle/>
                    <a:p>
                      <a:r>
                        <a:rPr lang="en-IN" sz="1300"/>
                        <a:t>Loan Default Prediction</a:t>
                      </a:r>
                    </a:p>
                  </a:txBody>
                  <a:tcPr marL="68439" marR="68439" marT="34219" marB="342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GBT</a:t>
                      </a:r>
                    </a:p>
                  </a:txBody>
                  <a:tcPr marL="68439" marR="68439" marT="34219" marB="342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Predicted defaulters with 94% AUC, enabling better credit risk management.</a:t>
                      </a:r>
                    </a:p>
                  </a:txBody>
                  <a:tcPr marL="68439" marR="68439" marT="34219" marB="342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0540646"/>
                  </a:ext>
                </a:extLst>
              </a:tr>
              <a:tr h="574936">
                <a:tc>
                  <a:txBody>
                    <a:bodyPr/>
                    <a:lstStyle/>
                    <a:p>
                      <a:r>
                        <a:rPr lang="en-IN" sz="1300"/>
                        <a:t>Customer Segmentation</a:t>
                      </a:r>
                    </a:p>
                  </a:txBody>
                  <a:tcPr marL="68439" marR="68439" marT="34219" marB="342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K-Means</a:t>
                      </a:r>
                    </a:p>
                  </a:txBody>
                  <a:tcPr marL="68439" marR="68439" marT="34219" marB="342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Created 3 distinct customer groups with targeted product offers.</a:t>
                      </a:r>
                    </a:p>
                  </a:txBody>
                  <a:tcPr marL="68439" marR="68439" marT="34219" marB="342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0206652"/>
                  </a:ext>
                </a:extLst>
              </a:tr>
              <a:tr h="574936">
                <a:tc>
                  <a:txBody>
                    <a:bodyPr/>
                    <a:lstStyle/>
                    <a:p>
                      <a:r>
                        <a:rPr lang="en-IN" sz="1300"/>
                        <a:t>Credit Risk Monitoring</a:t>
                      </a:r>
                    </a:p>
                  </a:txBody>
                  <a:tcPr marL="68439" marR="68439" marT="34219" marB="342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GBT</a:t>
                      </a:r>
                    </a:p>
                  </a:txBody>
                  <a:tcPr marL="68439" marR="68439" marT="34219" marB="342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Enabled real-time scoring for new loan applications with 92% accuracy.</a:t>
                      </a:r>
                    </a:p>
                  </a:txBody>
                  <a:tcPr marL="68439" marR="68439" marT="34219" marB="342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243333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42174D2-2730-43B0-A563-AE5659849451}"/>
              </a:ext>
            </a:extLst>
          </p:cNvPr>
          <p:cNvSpPr txBox="1"/>
          <p:nvPr/>
        </p:nvSpPr>
        <p:spPr>
          <a:xfrm>
            <a:off x="477078" y="5550010"/>
            <a:ext cx="1079047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Business Impact</a:t>
            </a:r>
          </a:p>
          <a:p>
            <a:pPr algn="just"/>
            <a:r>
              <a:rPr lang="en-US" sz="1200" dirty="0"/>
              <a:t>Banks can now proactively identify fraud, reduce defaults, and retain valuable customers.</a:t>
            </a:r>
          </a:p>
          <a:p>
            <a:pPr algn="just"/>
            <a:r>
              <a:rPr lang="en-US" sz="1200" dirty="0"/>
              <a:t>Sentiment data helps in </a:t>
            </a:r>
            <a:r>
              <a:rPr lang="en-US" sz="1200" b="1" dirty="0"/>
              <a:t>brand management</a:t>
            </a:r>
            <a:r>
              <a:rPr lang="en-US" sz="1200" dirty="0"/>
              <a:t> and improving </a:t>
            </a:r>
            <a:r>
              <a:rPr lang="en-US" sz="1200" b="1" dirty="0"/>
              <a:t>digital banking apps.</a:t>
            </a:r>
            <a:endParaRPr lang="en-US" sz="1200" dirty="0"/>
          </a:p>
          <a:p>
            <a:pPr algn="just"/>
            <a:r>
              <a:rPr lang="en-US" sz="1200" dirty="0"/>
              <a:t>Personalized segmentation improves </a:t>
            </a:r>
            <a:r>
              <a:rPr lang="en-US" sz="1200" b="1" dirty="0"/>
              <a:t>marketing ROI</a:t>
            </a:r>
            <a:r>
              <a:rPr lang="en-US" sz="1200" dirty="0"/>
              <a:t> and </a:t>
            </a:r>
            <a:r>
              <a:rPr lang="en-US" sz="1200" b="1" dirty="0"/>
              <a:t>customer satisfaction.</a:t>
            </a:r>
            <a:endParaRPr lang="en-US" sz="1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4990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FFED7-26C6-4A6F-B34A-E2E1A3F0E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and Learnings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47CD3-89E3-4A4F-86B0-45DFAA667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1300" b="1" dirty="0"/>
              <a:t>Project Conclusion</a:t>
            </a:r>
          </a:p>
          <a:p>
            <a:pPr>
              <a:lnSpc>
                <a:spcPct val="100000"/>
              </a:lnSpc>
            </a:pPr>
            <a:r>
              <a:rPr lang="en-IN" sz="1200" dirty="0"/>
              <a:t>Big Data Analytics helps banks leverage massive customer and transaction data for smarter decisions.</a:t>
            </a:r>
          </a:p>
          <a:p>
            <a:pPr>
              <a:lnSpc>
                <a:spcPct val="100000"/>
              </a:lnSpc>
            </a:pPr>
            <a:r>
              <a:rPr lang="en-IN" sz="1200" dirty="0"/>
              <a:t>Machine Learning models like Logistic Regression, Random Forest, and GBT proved highly effective.</a:t>
            </a:r>
          </a:p>
          <a:p>
            <a:pPr>
              <a:lnSpc>
                <a:spcPct val="100000"/>
              </a:lnSpc>
            </a:pPr>
            <a:r>
              <a:rPr lang="en-IN" sz="1200" dirty="0"/>
              <a:t>Clustering and sentiment analysis improved customer understanding and engagement.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300" b="1" dirty="0"/>
              <a:t>Key Learnings</a:t>
            </a:r>
          </a:p>
          <a:p>
            <a:pPr>
              <a:lnSpc>
                <a:spcPct val="100000"/>
              </a:lnSpc>
            </a:pPr>
            <a:r>
              <a:rPr lang="en-US" sz="1200" dirty="0"/>
              <a:t>Hands-on experience with </a:t>
            </a:r>
            <a:r>
              <a:rPr lang="en-US" sz="1200" b="1" dirty="0"/>
              <a:t>Databricks, </a:t>
            </a:r>
            <a:r>
              <a:rPr lang="en-US" sz="1200" b="1" dirty="0" err="1"/>
              <a:t>PySpark</a:t>
            </a:r>
            <a:r>
              <a:rPr lang="en-US" sz="1200" b="1" dirty="0"/>
              <a:t>, and </a:t>
            </a:r>
            <a:r>
              <a:rPr lang="en-US" sz="1200" b="1" dirty="0" err="1"/>
              <a:t>MLlib</a:t>
            </a:r>
            <a:r>
              <a:rPr lang="en-US" sz="1200" dirty="0"/>
              <a:t>.</a:t>
            </a:r>
          </a:p>
          <a:p>
            <a:pPr>
              <a:lnSpc>
                <a:spcPct val="100000"/>
              </a:lnSpc>
            </a:pPr>
            <a:r>
              <a:rPr lang="en-US" sz="1200" dirty="0"/>
              <a:t>Deep understanding of </a:t>
            </a:r>
            <a:r>
              <a:rPr lang="en-US" sz="1200" b="1" dirty="0"/>
              <a:t>data preprocessing, modeling, and evaluation</a:t>
            </a:r>
            <a:r>
              <a:rPr lang="en-US" sz="1200" dirty="0"/>
              <a:t>.</a:t>
            </a:r>
          </a:p>
          <a:p>
            <a:pPr>
              <a:lnSpc>
                <a:spcPct val="100000"/>
              </a:lnSpc>
            </a:pPr>
            <a:r>
              <a:rPr lang="en-US" sz="1200" dirty="0"/>
              <a:t>Ability to connect technical results with </a:t>
            </a:r>
            <a:r>
              <a:rPr lang="en-US" sz="1200" b="1" dirty="0"/>
              <a:t>real business impact</a:t>
            </a:r>
            <a:r>
              <a:rPr lang="en-US" sz="1200" dirty="0"/>
              <a:t>.</a:t>
            </a:r>
          </a:p>
          <a:p>
            <a:pPr>
              <a:lnSpc>
                <a:spcPct val="100000"/>
              </a:lnSpc>
            </a:pPr>
            <a:r>
              <a:rPr lang="en-US" sz="1200" dirty="0"/>
              <a:t>Improved knowledge of </a:t>
            </a:r>
            <a:r>
              <a:rPr lang="en-US" sz="1200" b="1" dirty="0"/>
              <a:t>financial analytics and predictive modeling</a:t>
            </a:r>
            <a:r>
              <a:rPr lang="en-US" sz="1200" dirty="0"/>
              <a:t>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300" b="1" dirty="0"/>
              <a:t>Future Scope</a:t>
            </a:r>
          </a:p>
          <a:p>
            <a:pPr>
              <a:lnSpc>
                <a:spcPct val="110000"/>
              </a:lnSpc>
            </a:pPr>
            <a:r>
              <a:rPr lang="en-US" sz="1200" dirty="0"/>
              <a:t>Integrate real-time streaming data for continuous fraud monitoring.</a:t>
            </a:r>
          </a:p>
          <a:p>
            <a:pPr>
              <a:lnSpc>
                <a:spcPct val="110000"/>
              </a:lnSpc>
            </a:pPr>
            <a:r>
              <a:rPr lang="en-US" sz="1200" dirty="0"/>
              <a:t>Deploy models using APIs for live customer scoring.</a:t>
            </a:r>
          </a:p>
          <a:p>
            <a:pPr>
              <a:lnSpc>
                <a:spcPct val="110000"/>
              </a:lnSpc>
            </a:pPr>
            <a:r>
              <a:rPr lang="en-US" sz="1200" dirty="0"/>
              <a:t>Use deep learning or NLP for more advanced sentiment analysis.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79581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183</TotalTime>
  <Words>711</Words>
  <Application>Microsoft Office PowerPoint</Application>
  <PresentationFormat>Widescreen</PresentationFormat>
  <Paragraphs>107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Bookman Old Style</vt:lpstr>
      <vt:lpstr>Rockwell</vt:lpstr>
      <vt:lpstr>Damask</vt:lpstr>
      <vt:lpstr>Big Data Analytics in Banking: Decoding Customer Perceptions of Digital Banking in India through Social Media Insights</vt:lpstr>
      <vt:lpstr>Introduction</vt:lpstr>
      <vt:lpstr>Objectives and Tools Used</vt:lpstr>
      <vt:lpstr>PowerPoint Presentation</vt:lpstr>
      <vt:lpstr>Overview of Five Use Cases</vt:lpstr>
      <vt:lpstr>Implementation Overview and Outputs</vt:lpstr>
      <vt:lpstr>PowerPoint Presentation</vt:lpstr>
      <vt:lpstr>Results and Insights</vt:lpstr>
      <vt:lpstr>Conclusion and Learnings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 Analytics in Banking: Decoding Customer Perceptions of Digital Banking in India through Social Media Insights</dc:title>
  <dc:creator>shyam</dc:creator>
  <cp:lastModifiedBy>shyam</cp:lastModifiedBy>
  <cp:revision>2</cp:revision>
  <dcterms:created xsi:type="dcterms:W3CDTF">2025-11-11T14:33:33Z</dcterms:created>
  <dcterms:modified xsi:type="dcterms:W3CDTF">2025-11-11T17:43:45Z</dcterms:modified>
</cp:coreProperties>
</file>